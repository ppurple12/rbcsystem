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9" r:id="rId7"/>
    <p:sldId id="260" r:id="rId8"/>
    <p:sldId id="268" r:id="rId9"/>
    <p:sldId id="263" r:id="rId10"/>
    <p:sldId id="279" r:id="rId11"/>
    <p:sldId id="280" r:id="rId12"/>
    <p:sldId id="265" r:id="rId13"/>
    <p:sldId id="264" r:id="rId14"/>
    <p:sldId id="266" r:id="rId15"/>
    <p:sldId id="267" r:id="rId16"/>
    <p:sldId id="273" r:id="rId17"/>
    <p:sldId id="274" r:id="rId18"/>
    <p:sldId id="275" r:id="rId19"/>
    <p:sldId id="276" r:id="rId20"/>
    <p:sldId id="269" r:id="rId21"/>
    <p:sldId id="277" r:id="rId22"/>
    <p:sldId id="270" r:id="rId23"/>
    <p:sldId id="271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9A"/>
    <a:srgbClr val="4472C4"/>
    <a:srgbClr val="005F99"/>
    <a:srgbClr val="03A5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D68FC-138E-4752-840D-765027142C61}" v="103" dt="2025-04-04T23:10:44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8"/>
    <p:restoredTop sz="94681"/>
  </p:normalViewPr>
  <p:slideViewPr>
    <p:cSldViewPr snapToGrid="0" snapToObjects="1">
      <p:cViewPr varScale="1">
        <p:scale>
          <a:sx n="74" d="100"/>
          <a:sy n="74" d="100"/>
        </p:scale>
        <p:origin x="6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0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7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69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92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09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6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9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3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7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7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70AFB-B758-9245-96BA-91D0A9269598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534BF-9BAC-D742-B4FC-5B39481F4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0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edwells522@my.nipissingu.ca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haibinz@nipissingu.c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A2DFAE-B692-A8C4-9415-EE79A868A4B7}"/>
              </a:ext>
            </a:extLst>
          </p:cNvPr>
          <p:cNvSpPr txBox="1"/>
          <p:nvPr/>
        </p:nvSpPr>
        <p:spPr>
          <a:xfrm>
            <a:off x="551089" y="656549"/>
            <a:ext cx="94093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Futura Std Book"/>
                <a:cs typeface="Aharoni" panose="02010803020104030203" pitchFamily="2" charset="-79"/>
              </a:rPr>
              <a:t>Optimizing Ticket Assignment through Group Role Assignment with Agents’ Busyness Degree </a:t>
            </a:r>
            <a:endParaRPr lang="en-CA" sz="3600" b="1" dirty="0">
              <a:latin typeface="Futura Std Boo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67820-4E77-E065-6E1D-BA288E161EDC}"/>
              </a:ext>
            </a:extLst>
          </p:cNvPr>
          <p:cNvSpPr txBox="1"/>
          <p:nvPr/>
        </p:nvSpPr>
        <p:spPr>
          <a:xfrm>
            <a:off x="551089" y="4082539"/>
            <a:ext cx="4445457" cy="1815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Evan Wells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Department of Computer Science and Mathematics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Nipissing University 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North Bay, Canada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</a:pPr>
            <a:r>
              <a:rPr lang="en-US" sz="1800" u="sng" dirty="0">
                <a:solidFill>
                  <a:srgbClr val="0000FF"/>
                </a:solidFill>
                <a:effectLst/>
                <a:latin typeface="Futura Std Book"/>
                <a:ea typeface="DengXian" panose="02010600030101010101" pitchFamily="2" charset="-122"/>
                <a:hlinkClick r:id="rId3"/>
              </a:rPr>
              <a:t>edwells522@my.nipissingu.ca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8D849B-2480-B1A8-7D79-5F8A5C50A6BA}"/>
              </a:ext>
            </a:extLst>
          </p:cNvPr>
          <p:cNvSpPr txBox="1"/>
          <p:nvPr/>
        </p:nvSpPr>
        <p:spPr>
          <a:xfrm>
            <a:off x="7195456" y="4082539"/>
            <a:ext cx="4298283" cy="1815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Dr. </a:t>
            </a:r>
            <a:r>
              <a:rPr lang="en-US" sz="1800" b="0" i="0" dirty="0" err="1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Haibin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 Zhu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Department of Computer Science and Mathematics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Nipissing University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  <a:buNone/>
            </a:pP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North Bay, Canada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  <a:p>
            <a:pPr algn="ctr">
              <a:lnSpc>
                <a:spcPct val="105000"/>
              </a:lnSpc>
            </a:pPr>
            <a:r>
              <a:rPr lang="en-US" sz="1800" u="sng" dirty="0">
                <a:solidFill>
                  <a:srgbClr val="0000FF"/>
                </a:solidFill>
                <a:effectLst/>
                <a:latin typeface="Futura Std Book"/>
                <a:ea typeface="DengXian" panose="02010600030101010101" pitchFamily="2" charset="-122"/>
                <a:hlinkClick r:id="rId4"/>
              </a:rPr>
              <a:t>haibinz@nipissingu.ca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Futura Std Book"/>
                <a:ea typeface="DengXian" panose="02010600030101010101" pitchFamily="2" charset="-122"/>
              </a:rPr>
              <a:t> </a:t>
            </a:r>
            <a:endParaRPr lang="en-CA" sz="1800" dirty="0">
              <a:effectLst/>
              <a:latin typeface="Futura Std Book"/>
              <a:ea typeface="DengXian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92B68-CF26-A5C6-5CA7-29E9AF6152D3}"/>
              </a:ext>
            </a:extLst>
          </p:cNvPr>
          <p:cNvSpPr txBox="1"/>
          <p:nvPr/>
        </p:nvSpPr>
        <p:spPr>
          <a:xfrm>
            <a:off x="469092" y="6349521"/>
            <a:ext cx="11253815" cy="364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9540" algn="just">
              <a:lnSpc>
                <a:spcPct val="105000"/>
              </a:lnSpc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Sponsors: SSHRC Insight Grant (IG 435-2023-1056), and NSERC Discovery Development Grant (DDG-2024-00036)</a:t>
            </a:r>
            <a:endParaRPr lang="en-CA" sz="1800" dirty="0">
              <a:effectLst/>
              <a:latin typeface="Times New Roman" panose="02020603050405020304" pitchFamily="18" charset="0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6145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9480AE68-9381-2814-C260-0EF8033C4285}"/>
              </a:ext>
            </a:extLst>
          </p:cNvPr>
          <p:cNvSpPr txBox="1">
            <a:spLocks/>
          </p:cNvSpPr>
          <p:nvPr/>
        </p:nvSpPr>
        <p:spPr>
          <a:xfrm>
            <a:off x="1473697" y="1893830"/>
            <a:ext cx="9244604" cy="2213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With the rapid pace of technological evolution, Information Technology (IT) departments are often found understaffed and overwhelmed.</a:t>
            </a:r>
            <a:endParaRPr lang="en-CA" dirty="0">
              <a:latin typeface="Futura Std Book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25C918-72A2-7453-82A4-9557514DBFC6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04BB7B-6F5E-FBB0-EEE9-979418A1455C}"/>
              </a:ext>
            </a:extLst>
          </p:cNvPr>
          <p:cNvSpPr txBox="1">
            <a:spLocks/>
          </p:cNvSpPr>
          <p:nvPr/>
        </p:nvSpPr>
        <p:spPr>
          <a:xfrm>
            <a:off x="242509" y="119722"/>
            <a:ext cx="5853490" cy="927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Problem specification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  <p:pic>
        <p:nvPicPr>
          <p:cNvPr id="6" name="Picture 5" descr="A computer and a shield&#10;&#10;AI-generated content may be incorrect.">
            <a:extLst>
              <a:ext uri="{FF2B5EF4-FFF2-40B4-BE49-F238E27FC236}">
                <a16:creationId xmlns:a16="http://schemas.microsoft.com/office/drawing/2014/main" id="{633691B5-9DA5-796F-ED5E-01F842ACE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83" y="3857232"/>
            <a:ext cx="2841071" cy="2841071"/>
          </a:xfrm>
          <a:prstGeom prst="rect">
            <a:avLst/>
          </a:prstGeom>
        </p:spPr>
      </p:pic>
      <p:pic>
        <p:nvPicPr>
          <p:cNvPr id="7" name="Picture 6" descr="A person holding a small object&#10;&#10;AI-generated content may be incorrect.">
            <a:extLst>
              <a:ext uri="{FF2B5EF4-FFF2-40B4-BE49-F238E27FC236}">
                <a16:creationId xmlns:a16="http://schemas.microsoft.com/office/drawing/2014/main" id="{992C4A04-4C59-04C4-F9D2-C9B4F235DC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786" y="4372988"/>
            <a:ext cx="2071561" cy="2325315"/>
          </a:xfrm>
          <a:prstGeom prst="rect">
            <a:avLst/>
          </a:prstGeom>
        </p:spPr>
      </p:pic>
      <p:pic>
        <p:nvPicPr>
          <p:cNvPr id="8" name="Picture 7" descr="A silhouette of a person sitting at a table&#10;&#10;AI-generated content may be incorrect.">
            <a:extLst>
              <a:ext uri="{FF2B5EF4-FFF2-40B4-BE49-F238E27FC236}">
                <a16:creationId xmlns:a16="http://schemas.microsoft.com/office/drawing/2014/main" id="{1DFB4500-1FD1-6927-921C-1C2DB5BAE1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863" y="3429000"/>
            <a:ext cx="2928273" cy="292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7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A9640B5-66A9-843C-A24F-E74B95324A1C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1509AD-AD74-FAC8-E50F-924861FB07ED}"/>
              </a:ext>
            </a:extLst>
          </p:cNvPr>
          <p:cNvSpPr txBox="1">
            <a:spLocks/>
          </p:cNvSpPr>
          <p:nvPr/>
        </p:nvSpPr>
        <p:spPr>
          <a:xfrm>
            <a:off x="364308" y="114796"/>
            <a:ext cx="8013027" cy="927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Problem specification (cont’d)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E55F7C-7605-E585-2D68-05440BE14631}"/>
              </a:ext>
            </a:extLst>
          </p:cNvPr>
          <p:cNvGrpSpPr/>
          <p:nvPr/>
        </p:nvGrpSpPr>
        <p:grpSpPr>
          <a:xfrm>
            <a:off x="1481667" y="3428999"/>
            <a:ext cx="3689112" cy="2652443"/>
            <a:chOff x="1164757" y="3429000"/>
            <a:chExt cx="3689112" cy="2652443"/>
          </a:xfrm>
        </p:grpSpPr>
        <p:pic>
          <p:nvPicPr>
            <p:cNvPr id="7" name="Graphic 6" descr="Management with solid fill">
              <a:extLst>
                <a:ext uri="{FF2B5EF4-FFF2-40B4-BE49-F238E27FC236}">
                  <a16:creationId xmlns:a16="http://schemas.microsoft.com/office/drawing/2014/main" id="{E910C864-6210-A38A-AE4B-4F5C0B662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01426" y="3429000"/>
              <a:ext cx="2652443" cy="2652443"/>
            </a:xfrm>
            <a:prstGeom prst="rect">
              <a:avLst/>
            </a:prstGeom>
          </p:spPr>
        </p:pic>
        <p:pic>
          <p:nvPicPr>
            <p:cNvPr id="8" name="Graphic 7" descr="Arrow Up with solid fill">
              <a:extLst>
                <a:ext uri="{FF2B5EF4-FFF2-40B4-BE49-F238E27FC236}">
                  <a16:creationId xmlns:a16="http://schemas.microsoft.com/office/drawing/2014/main" id="{3855FDDC-B343-8955-AC6D-2D66EABA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4757" y="3741886"/>
              <a:ext cx="1363631" cy="1363631"/>
            </a:xfrm>
            <a:prstGeom prst="rect">
              <a:avLst/>
            </a:prstGeom>
          </p:spPr>
        </p:pic>
        <p:pic>
          <p:nvPicPr>
            <p:cNvPr id="9" name="Graphic 8" descr="Ticket with solid fill">
              <a:extLst>
                <a:ext uri="{FF2B5EF4-FFF2-40B4-BE49-F238E27FC236}">
                  <a16:creationId xmlns:a16="http://schemas.microsoft.com/office/drawing/2014/main" id="{4E9DB607-B4A5-A8A0-51CD-CEF72DC00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89373" y="4948424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877B28-0201-DAF7-4EC8-86EC91674A09}"/>
              </a:ext>
            </a:extLst>
          </p:cNvPr>
          <p:cNvGrpSpPr/>
          <p:nvPr/>
        </p:nvGrpSpPr>
        <p:grpSpPr>
          <a:xfrm>
            <a:off x="6969724" y="3428999"/>
            <a:ext cx="3740285" cy="2652443"/>
            <a:chOff x="6847780" y="3429000"/>
            <a:chExt cx="3740285" cy="2652443"/>
          </a:xfrm>
        </p:grpSpPr>
        <p:pic>
          <p:nvPicPr>
            <p:cNvPr id="11" name="Graphic 10" descr="Management with solid fill">
              <a:extLst>
                <a:ext uri="{FF2B5EF4-FFF2-40B4-BE49-F238E27FC236}">
                  <a16:creationId xmlns:a16="http://schemas.microsoft.com/office/drawing/2014/main" id="{91DF0736-3221-E78F-4A67-BAEAA84F2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35622" y="3429000"/>
              <a:ext cx="2652443" cy="2652443"/>
            </a:xfrm>
            <a:prstGeom prst="rect">
              <a:avLst/>
            </a:prstGeom>
          </p:spPr>
        </p:pic>
        <p:pic>
          <p:nvPicPr>
            <p:cNvPr id="12" name="Graphic 11" descr="Arrow Up with solid fill">
              <a:extLst>
                <a:ext uri="{FF2B5EF4-FFF2-40B4-BE49-F238E27FC236}">
                  <a16:creationId xmlns:a16="http://schemas.microsoft.com/office/drawing/2014/main" id="{0D6586D2-EA99-39EF-4E43-A2B003910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6847780" y="4352848"/>
              <a:ext cx="1363631" cy="1363631"/>
            </a:xfrm>
            <a:prstGeom prst="rect">
              <a:avLst/>
            </a:prstGeom>
          </p:spPr>
        </p:pic>
        <p:pic>
          <p:nvPicPr>
            <p:cNvPr id="13" name="Graphic 12" descr="Ticket with solid fill">
              <a:extLst>
                <a:ext uri="{FF2B5EF4-FFF2-40B4-BE49-F238E27FC236}">
                  <a16:creationId xmlns:a16="http://schemas.microsoft.com/office/drawing/2014/main" id="{B27F9276-0330-9877-CEBF-D018B6F75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21222" y="3490075"/>
              <a:ext cx="914400" cy="914400"/>
            </a:xfrm>
            <a:prstGeom prst="rect">
              <a:avLst/>
            </a:prstGeom>
          </p:spPr>
        </p:pic>
      </p:grpSp>
      <p:sp>
        <p:nvSpPr>
          <p:cNvPr id="14" name="Subtitle 2">
            <a:extLst>
              <a:ext uri="{FF2B5EF4-FFF2-40B4-BE49-F238E27FC236}">
                <a16:creationId xmlns:a16="http://schemas.microsoft.com/office/drawing/2014/main" id="{1964AE34-08E2-512D-3CA1-C2A740C5914F}"/>
              </a:ext>
            </a:extLst>
          </p:cNvPr>
          <p:cNvSpPr txBox="1">
            <a:spLocks/>
          </p:cNvSpPr>
          <p:nvPr/>
        </p:nvSpPr>
        <p:spPr>
          <a:xfrm>
            <a:off x="1171529" y="1733398"/>
            <a:ext cx="9848942" cy="2213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Futura Std Book"/>
              </a:rPr>
              <a:t>When it comes to IT ticketing, it is often a generalization (bottom up) or a specialization (top-down) </a:t>
            </a:r>
            <a:endParaRPr lang="en-CA" sz="2800" dirty="0">
              <a:latin typeface="Futura Std Boo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7EA53-B2D6-B602-A2E8-628CC11D0AF3}"/>
              </a:ext>
            </a:extLst>
          </p:cNvPr>
          <p:cNvSpPr txBox="1"/>
          <p:nvPr/>
        </p:nvSpPr>
        <p:spPr>
          <a:xfrm>
            <a:off x="2242547" y="2977983"/>
            <a:ext cx="1819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latin typeface="Futura Std Book"/>
              </a:rPr>
              <a:t>Generalization</a:t>
            </a:r>
            <a:endParaRPr lang="en-CA" sz="1800" b="1" u="sng" dirty="0">
              <a:latin typeface="Futura Std Book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95D757-AD40-4F32-394E-29FE01039051}"/>
              </a:ext>
            </a:extLst>
          </p:cNvPr>
          <p:cNvSpPr txBox="1"/>
          <p:nvPr/>
        </p:nvSpPr>
        <p:spPr>
          <a:xfrm>
            <a:off x="8129562" y="3029380"/>
            <a:ext cx="1819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Futura Std Book"/>
              </a:rPr>
              <a:t>Specialization</a:t>
            </a:r>
            <a:endParaRPr lang="en-CA" dirty="0">
              <a:latin typeface="Futura Std Book"/>
            </a:endParaRPr>
          </a:p>
        </p:txBody>
      </p:sp>
    </p:spTree>
    <p:extLst>
      <p:ext uri="{BB962C8B-B14F-4D97-AF65-F5344CB8AC3E}">
        <p14:creationId xmlns:p14="http://schemas.microsoft.com/office/powerpoint/2010/main" val="521659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7688F0-E774-8523-DA16-B94013ADC480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7287141-9BF0-472A-0616-E73DBEECBA2B}"/>
              </a:ext>
            </a:extLst>
          </p:cNvPr>
          <p:cNvSpPr txBox="1">
            <a:spLocks/>
          </p:cNvSpPr>
          <p:nvPr/>
        </p:nvSpPr>
        <p:spPr>
          <a:xfrm>
            <a:off x="5030520" y="2762064"/>
            <a:ext cx="6603862" cy="2395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Role Based Collaboration, a framework used to model complex real-world systems, is utilized throughout the creation of a solution.</a:t>
            </a:r>
            <a:endParaRPr lang="en-CA" dirty="0">
              <a:latin typeface="Futura Std Book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5C4D19-182C-5C71-93A9-9D17706380C3}"/>
              </a:ext>
            </a:extLst>
          </p:cNvPr>
          <p:cNvSpPr txBox="1">
            <a:spLocks/>
          </p:cNvSpPr>
          <p:nvPr/>
        </p:nvSpPr>
        <p:spPr>
          <a:xfrm>
            <a:off x="603146" y="101658"/>
            <a:ext cx="8854749" cy="927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Role Based Collaboration (RBC)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  <p:pic>
        <p:nvPicPr>
          <p:cNvPr id="8" name="Picture 7" descr="A flowchart of a process&#10;&#10;AI-generated content may be incorrect.">
            <a:extLst>
              <a:ext uri="{FF2B5EF4-FFF2-40B4-BE49-F238E27FC236}">
                <a16:creationId xmlns:a16="http://schemas.microsoft.com/office/drawing/2014/main" id="{2CCB5C60-8731-CFE8-F93A-439D5642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5" y="1700359"/>
            <a:ext cx="4680191" cy="479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0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0B358-DA27-99DA-1AC0-C652D086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AA5A26-83D1-F987-C515-DD5FE4410B3B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5D841B0-5945-6F27-3433-9A7BDBAF91C0}"/>
              </a:ext>
            </a:extLst>
          </p:cNvPr>
          <p:cNvSpPr txBox="1">
            <a:spLocks/>
          </p:cNvSpPr>
          <p:nvPr/>
        </p:nvSpPr>
        <p:spPr>
          <a:xfrm>
            <a:off x="1383738" y="1710287"/>
            <a:ext cx="9144000" cy="4702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Utilizing the principles of RBC and GRA, the solution proposed is a program that automatically assigns tickets based on the following:</a:t>
            </a:r>
          </a:p>
          <a:p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Agents’ workloads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Agents’ skillsets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Agents’ fitness to a specific task</a:t>
            </a:r>
            <a:endParaRPr lang="en-CA" dirty="0">
              <a:latin typeface="Futura Std Book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F8EAF6-4BB4-8000-3F99-073FB364240B}"/>
              </a:ext>
            </a:extLst>
          </p:cNvPr>
          <p:cNvSpPr txBox="1">
            <a:spLocks/>
          </p:cNvSpPr>
          <p:nvPr/>
        </p:nvSpPr>
        <p:spPr>
          <a:xfrm>
            <a:off x="377316" y="112182"/>
            <a:ext cx="5305290" cy="889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Proposed Solution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98247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5496C-B4F9-C2BB-3898-7EE9D5A3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873E3318-9F2C-A295-792E-3323F74787E1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F21057-3136-736E-005D-29512B0317BD}"/>
              </a:ext>
            </a:extLst>
          </p:cNvPr>
          <p:cNvSpPr/>
          <p:nvPr/>
        </p:nvSpPr>
        <p:spPr>
          <a:xfrm>
            <a:off x="1169254" y="2081783"/>
            <a:ext cx="2843784" cy="3931920"/>
          </a:xfrm>
          <a:prstGeom prst="roundRect">
            <a:avLst/>
          </a:prstGeom>
          <a:solidFill>
            <a:srgbClr val="00609A"/>
          </a:solidFill>
          <a:ln>
            <a:solidFill>
              <a:srgbClr val="00609A"/>
            </a:solidFill>
          </a:ln>
          <a:effectLst>
            <a:glow rad="228600">
              <a:schemeClr val="accent1">
                <a:alpha val="40000"/>
              </a:schemeClr>
            </a:glow>
            <a:innerShdw blurRad="1270000">
              <a:srgbClr val="4892C2"/>
            </a:innerShdw>
            <a:reflection blurRad="6350" stA="52000" endA="300" endPos="19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3B4F15-D43F-3AE0-6819-21EC76373208}"/>
              </a:ext>
            </a:extLst>
          </p:cNvPr>
          <p:cNvSpPr/>
          <p:nvPr/>
        </p:nvSpPr>
        <p:spPr>
          <a:xfrm>
            <a:off x="8069926" y="2064457"/>
            <a:ext cx="2843784" cy="3931920"/>
          </a:xfrm>
          <a:prstGeom prst="roundRect">
            <a:avLst/>
          </a:prstGeom>
          <a:solidFill>
            <a:srgbClr val="B2B2B2"/>
          </a:solidFill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E28C56-81B4-47BA-8335-C621EAA45643}"/>
              </a:ext>
            </a:extLst>
          </p:cNvPr>
          <p:cNvSpPr/>
          <p:nvPr/>
        </p:nvSpPr>
        <p:spPr>
          <a:xfrm>
            <a:off x="4619590" y="2064457"/>
            <a:ext cx="2843784" cy="3931920"/>
          </a:xfrm>
          <a:prstGeom prst="roundRect">
            <a:avLst/>
          </a:prstGeom>
          <a:solidFill>
            <a:srgbClr val="B2B2B2"/>
          </a:solidFill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03B520-D89B-BA6F-10D4-D98F878F22B8}"/>
              </a:ext>
            </a:extLst>
          </p:cNvPr>
          <p:cNvSpPr txBox="1"/>
          <p:nvPr/>
        </p:nvSpPr>
        <p:spPr>
          <a:xfrm>
            <a:off x="1962320" y="2145531"/>
            <a:ext cx="1257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Workloads</a:t>
            </a:r>
            <a:endParaRPr lang="en-CA" sz="1600" b="1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0D14C8-C019-BDB8-39C8-640C0F506D08}"/>
              </a:ext>
            </a:extLst>
          </p:cNvPr>
          <p:cNvSpPr txBox="1"/>
          <p:nvPr/>
        </p:nvSpPr>
        <p:spPr>
          <a:xfrm>
            <a:off x="5540383" y="2157242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Skillsets</a:t>
            </a:r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DC11F-885F-07FC-60DF-284408660D24}"/>
              </a:ext>
            </a:extLst>
          </p:cNvPr>
          <p:cNvSpPr txBox="1"/>
          <p:nvPr/>
        </p:nvSpPr>
        <p:spPr>
          <a:xfrm>
            <a:off x="8684321" y="2145531"/>
            <a:ext cx="1614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Fitness to Task</a:t>
            </a:r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AAD508-54E5-A064-0093-1BFC5AADC512}"/>
              </a:ext>
            </a:extLst>
          </p:cNvPr>
          <p:cNvSpPr txBox="1"/>
          <p:nvPr/>
        </p:nvSpPr>
        <p:spPr>
          <a:xfrm>
            <a:off x="1492678" y="2634294"/>
            <a:ext cx="21969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  <a:latin typeface="Futura Std Book"/>
              </a:rPr>
              <a:t>A staff member's busyness can be determined by summing the number of open tickets assigned to them and the total estimated time required for their completion.</a:t>
            </a:r>
            <a:endParaRPr lang="en-CA" dirty="0">
              <a:solidFill>
                <a:schemeClr val="bg2"/>
              </a:solidFill>
              <a:latin typeface="Futura Std Book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6FC4B57-9390-4CF0-8CFF-9F4BE833DDA6}"/>
              </a:ext>
            </a:extLst>
          </p:cNvPr>
          <p:cNvSpPr txBox="1">
            <a:spLocks/>
          </p:cNvSpPr>
          <p:nvPr/>
        </p:nvSpPr>
        <p:spPr>
          <a:xfrm>
            <a:off x="209465" y="-11663"/>
            <a:ext cx="7336353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b="1" dirty="0">
                <a:latin typeface="Futura Std Book"/>
                <a:cs typeface="Aharoni" panose="02010803020104030203" pitchFamily="2" charset="-79"/>
              </a:rPr>
              <a:t>Proposed Solution (cont’d)</a:t>
            </a:r>
            <a:endParaRPr lang="en-CA" sz="43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3B54CB-F2E2-D49D-141A-809BF6EE6B9E}"/>
              </a:ext>
            </a:extLst>
          </p:cNvPr>
          <p:cNvSpPr txBox="1"/>
          <p:nvPr/>
        </p:nvSpPr>
        <p:spPr>
          <a:xfrm>
            <a:off x="4943014" y="2484085"/>
            <a:ext cx="2196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Futura Std Book"/>
              </a:rPr>
              <a:t>Giving a numerical value to the staff for generic skills required in an IT environment can create values for which the GRA algorithm can base its ticket assignment decisions.</a:t>
            </a:r>
            <a:endParaRPr lang="en-CA" dirty="0">
              <a:solidFill>
                <a:schemeClr val="tx1">
                  <a:lumMod val="65000"/>
                  <a:lumOff val="35000"/>
                </a:schemeClr>
              </a:solidFill>
              <a:latin typeface="Futura Std Boo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BF9A3F-0C93-DA9B-BFA3-1BE75BF1118B}"/>
              </a:ext>
            </a:extLst>
          </p:cNvPr>
          <p:cNvSpPr txBox="1"/>
          <p:nvPr/>
        </p:nvSpPr>
        <p:spPr>
          <a:xfrm>
            <a:off x="8384167" y="2484085"/>
            <a:ext cx="2196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Futura Std Book"/>
              </a:rPr>
              <a:t>Using the skillset values, an IT staff’s fitness to a certain ticket or task can be derived. This fitness can include numerous skills, as a ticket usually requires prowess in numerous fields.</a:t>
            </a:r>
            <a:endParaRPr lang="en-CA" dirty="0">
              <a:solidFill>
                <a:schemeClr val="tx1">
                  <a:lumMod val="65000"/>
                  <a:lumOff val="35000"/>
                </a:schemeClr>
              </a:solidFill>
              <a:latin typeface="Futura Std Book"/>
            </a:endParaRPr>
          </a:p>
        </p:txBody>
      </p:sp>
    </p:spTree>
    <p:extLst>
      <p:ext uri="{BB962C8B-B14F-4D97-AF65-F5344CB8AC3E}">
        <p14:creationId xmlns:p14="http://schemas.microsoft.com/office/powerpoint/2010/main" val="23891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D23D2-7D32-70F6-AC12-4BEEFB38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DB8DDCB-6827-416D-7176-67B7BD47E033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782A16-3F2E-1C15-7921-5DB98D816643}"/>
              </a:ext>
            </a:extLst>
          </p:cNvPr>
          <p:cNvSpPr/>
          <p:nvPr/>
        </p:nvSpPr>
        <p:spPr>
          <a:xfrm>
            <a:off x="4611747" y="2064457"/>
            <a:ext cx="2843784" cy="3931920"/>
          </a:xfrm>
          <a:prstGeom prst="roundRect">
            <a:avLst/>
          </a:prstGeom>
          <a:solidFill>
            <a:srgbClr val="00609A"/>
          </a:solidFill>
          <a:ln>
            <a:solidFill>
              <a:srgbClr val="00609A"/>
            </a:solidFill>
          </a:ln>
          <a:effectLst>
            <a:glow rad="228600">
              <a:schemeClr val="accent1">
                <a:alpha val="40000"/>
              </a:schemeClr>
            </a:glow>
            <a:innerShdw blurRad="1270000">
              <a:srgbClr val="4892C2"/>
            </a:innerShdw>
            <a:reflection blurRad="6350" stA="52000" endA="300" endPos="19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040613-E04F-F6CE-1E1B-C04446B50B3A}"/>
              </a:ext>
            </a:extLst>
          </p:cNvPr>
          <p:cNvSpPr/>
          <p:nvPr/>
        </p:nvSpPr>
        <p:spPr>
          <a:xfrm>
            <a:off x="8069926" y="2064457"/>
            <a:ext cx="2843784" cy="3931920"/>
          </a:xfrm>
          <a:prstGeom prst="roundRect">
            <a:avLst/>
          </a:prstGeom>
          <a:solidFill>
            <a:srgbClr val="B2B2B2"/>
          </a:solidFill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AD270F-966C-E462-7386-5F37FF5D2D74}"/>
              </a:ext>
            </a:extLst>
          </p:cNvPr>
          <p:cNvSpPr/>
          <p:nvPr/>
        </p:nvSpPr>
        <p:spPr>
          <a:xfrm>
            <a:off x="1186279" y="2064457"/>
            <a:ext cx="2843784" cy="3931920"/>
          </a:xfrm>
          <a:prstGeom prst="roundRect">
            <a:avLst/>
          </a:prstGeom>
          <a:solidFill>
            <a:srgbClr val="B2B2B2"/>
          </a:solidFill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29EAD-F758-8579-02A6-FA5EB77B521F}"/>
              </a:ext>
            </a:extLst>
          </p:cNvPr>
          <p:cNvSpPr txBox="1"/>
          <p:nvPr/>
        </p:nvSpPr>
        <p:spPr>
          <a:xfrm>
            <a:off x="1962320" y="2145531"/>
            <a:ext cx="1257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Workloads</a:t>
            </a:r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4F798-7E5F-A1A8-7F1F-D8EBD40FB3BE}"/>
              </a:ext>
            </a:extLst>
          </p:cNvPr>
          <p:cNvSpPr txBox="1"/>
          <p:nvPr/>
        </p:nvSpPr>
        <p:spPr>
          <a:xfrm>
            <a:off x="5540383" y="2157242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Skillsets</a:t>
            </a:r>
            <a:endParaRPr lang="en-CA" sz="1600" b="1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3C3EEF-3C75-DC08-BB7D-7DE713CE3BE3}"/>
              </a:ext>
            </a:extLst>
          </p:cNvPr>
          <p:cNvSpPr txBox="1"/>
          <p:nvPr/>
        </p:nvSpPr>
        <p:spPr>
          <a:xfrm>
            <a:off x="8684321" y="2145531"/>
            <a:ext cx="1614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Fitness to Task</a:t>
            </a:r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8A7443-69DC-5104-21E7-A969B0CAF053}"/>
              </a:ext>
            </a:extLst>
          </p:cNvPr>
          <p:cNvSpPr txBox="1"/>
          <p:nvPr/>
        </p:nvSpPr>
        <p:spPr>
          <a:xfrm>
            <a:off x="1492678" y="2634294"/>
            <a:ext cx="21969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Futura Std Book"/>
              </a:rPr>
              <a:t>A staff member's busyness can be determined by summing the number of open tickets assigned to them and the total estimated time required for their completion.</a:t>
            </a:r>
            <a:endParaRPr lang="en-CA" dirty="0">
              <a:solidFill>
                <a:schemeClr val="tx1">
                  <a:lumMod val="65000"/>
                  <a:lumOff val="35000"/>
                </a:schemeClr>
              </a:solidFill>
              <a:latin typeface="Futura Std Boo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A82F3C-E64D-3A93-D00E-EA51634C4468}"/>
              </a:ext>
            </a:extLst>
          </p:cNvPr>
          <p:cNvSpPr txBox="1"/>
          <p:nvPr/>
        </p:nvSpPr>
        <p:spPr>
          <a:xfrm>
            <a:off x="4943014" y="2495796"/>
            <a:ext cx="2196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Futura Std Book"/>
              </a:rPr>
              <a:t>Giving a numerical value to the staff for generic skills required in an IT environment can create values for which the GRA algorithm can base its ticket assignment decisions.</a:t>
            </a:r>
            <a:endParaRPr lang="en-CA" dirty="0">
              <a:solidFill>
                <a:schemeClr val="bg1"/>
              </a:solidFill>
              <a:latin typeface="Futura Std Book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C40B81-CC0A-4F38-26E2-13805E1501BA}"/>
              </a:ext>
            </a:extLst>
          </p:cNvPr>
          <p:cNvSpPr txBox="1"/>
          <p:nvPr/>
        </p:nvSpPr>
        <p:spPr>
          <a:xfrm>
            <a:off x="8393350" y="2484085"/>
            <a:ext cx="2196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Futura Std Book"/>
              </a:rPr>
              <a:t>Using the skillset values, an IT staff’s fitness to a certain ticket or task can be derived. This fitness can include numerous skills, as a ticket usually requires prowess in numerous fields.</a:t>
            </a:r>
            <a:endParaRPr lang="en-CA" dirty="0">
              <a:solidFill>
                <a:schemeClr val="tx1">
                  <a:lumMod val="65000"/>
                  <a:lumOff val="35000"/>
                </a:schemeClr>
              </a:solidFill>
              <a:latin typeface="Futura Std Book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EA32399-E8A1-1E2B-3256-0CF920A0CC3D}"/>
              </a:ext>
            </a:extLst>
          </p:cNvPr>
          <p:cNvSpPr txBox="1">
            <a:spLocks/>
          </p:cNvSpPr>
          <p:nvPr/>
        </p:nvSpPr>
        <p:spPr>
          <a:xfrm>
            <a:off x="209465" y="-11663"/>
            <a:ext cx="7336353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b="1" dirty="0">
                <a:latin typeface="Futura Std Book"/>
                <a:cs typeface="Aharoni" panose="02010803020104030203" pitchFamily="2" charset="-79"/>
              </a:rPr>
              <a:t>Proposed Solution (cont’d)</a:t>
            </a:r>
            <a:endParaRPr lang="en-CA" sz="43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499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6ACDA-2D0C-D2D8-9790-53B47742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6AA02A-6FBC-CCE5-8070-E60AB70746CB}"/>
              </a:ext>
            </a:extLst>
          </p:cNvPr>
          <p:cNvSpPr/>
          <p:nvPr/>
        </p:nvSpPr>
        <p:spPr>
          <a:xfrm>
            <a:off x="8060742" y="2064457"/>
            <a:ext cx="2843784" cy="3931920"/>
          </a:xfrm>
          <a:prstGeom prst="roundRect">
            <a:avLst/>
          </a:prstGeom>
          <a:solidFill>
            <a:srgbClr val="00609A"/>
          </a:solidFill>
          <a:ln>
            <a:solidFill>
              <a:srgbClr val="00609A"/>
            </a:solidFill>
          </a:ln>
          <a:effectLst>
            <a:glow rad="228600">
              <a:schemeClr val="accent1">
                <a:alpha val="40000"/>
              </a:schemeClr>
            </a:glow>
            <a:innerShdw blurRad="1270000">
              <a:srgbClr val="4892C2"/>
            </a:innerShdw>
            <a:reflection blurRad="6350" stA="52000" endA="300" endPos="19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9271F5-DAFC-4AFE-F18A-C4CEA7517458}"/>
              </a:ext>
            </a:extLst>
          </p:cNvPr>
          <p:cNvSpPr/>
          <p:nvPr/>
        </p:nvSpPr>
        <p:spPr>
          <a:xfrm>
            <a:off x="1178436" y="2064457"/>
            <a:ext cx="2843784" cy="3931920"/>
          </a:xfrm>
          <a:prstGeom prst="roundRect">
            <a:avLst/>
          </a:prstGeom>
          <a:solidFill>
            <a:srgbClr val="B2B2B2"/>
          </a:solidFill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BEE1FF-F927-2D27-27D6-FCF85459B1F6}"/>
              </a:ext>
            </a:extLst>
          </p:cNvPr>
          <p:cNvSpPr/>
          <p:nvPr/>
        </p:nvSpPr>
        <p:spPr>
          <a:xfrm>
            <a:off x="4619590" y="2064457"/>
            <a:ext cx="2843784" cy="3931920"/>
          </a:xfrm>
          <a:prstGeom prst="roundRect">
            <a:avLst/>
          </a:prstGeom>
          <a:solidFill>
            <a:srgbClr val="B2B2B2"/>
          </a:solidFill>
          <a:ln>
            <a:solidFill>
              <a:srgbClr val="B2B2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3F64F9-01A6-11EA-447F-A339FB83D1E5}"/>
              </a:ext>
            </a:extLst>
          </p:cNvPr>
          <p:cNvSpPr txBox="1"/>
          <p:nvPr/>
        </p:nvSpPr>
        <p:spPr>
          <a:xfrm>
            <a:off x="1962320" y="2145531"/>
            <a:ext cx="12576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Workloads</a:t>
            </a:r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4AE6AC-4A70-A19B-5058-2EA616DC4ADB}"/>
              </a:ext>
            </a:extLst>
          </p:cNvPr>
          <p:cNvSpPr txBox="1"/>
          <p:nvPr/>
        </p:nvSpPr>
        <p:spPr>
          <a:xfrm>
            <a:off x="5540383" y="2157242"/>
            <a:ext cx="10021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venir Next LT Pro" panose="020B0504020202020204" pitchFamily="34" charset="0"/>
              </a:rPr>
              <a:t>Skillsets</a:t>
            </a:r>
            <a:endParaRPr lang="en-CA" sz="1600" b="1" dirty="0">
              <a:solidFill>
                <a:schemeClr val="tx1">
                  <a:lumMod val="50000"/>
                  <a:lumOff val="50000"/>
                </a:schemeClr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25A7A2-4BB1-DEDF-4A01-7EE14A839D3E}"/>
              </a:ext>
            </a:extLst>
          </p:cNvPr>
          <p:cNvSpPr txBox="1"/>
          <p:nvPr/>
        </p:nvSpPr>
        <p:spPr>
          <a:xfrm>
            <a:off x="8684321" y="2145531"/>
            <a:ext cx="1614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venir Next LT Pro" panose="020B0504020202020204" pitchFamily="34" charset="0"/>
              </a:rPr>
              <a:t>Fitness to Task</a:t>
            </a:r>
            <a:endParaRPr lang="en-CA" sz="1600" b="1" dirty="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02653-0C32-364B-857E-6EDF23992200}"/>
              </a:ext>
            </a:extLst>
          </p:cNvPr>
          <p:cNvSpPr txBox="1"/>
          <p:nvPr/>
        </p:nvSpPr>
        <p:spPr>
          <a:xfrm>
            <a:off x="1492678" y="2634294"/>
            <a:ext cx="21969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Futura Std Book"/>
              </a:rPr>
              <a:t>A staff member's busyness can be determined by summing the number of open tickets assigned to them and the total estimated time required for their completion.</a:t>
            </a:r>
            <a:endParaRPr lang="en-CA" dirty="0">
              <a:solidFill>
                <a:schemeClr val="tx1">
                  <a:lumMod val="65000"/>
                  <a:lumOff val="35000"/>
                </a:schemeClr>
              </a:solidFill>
              <a:latin typeface="Futura Std Boo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DD4760-F9FE-F140-8693-96094989611D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32943A-B33F-4618-A490-3826B59B4A28}"/>
              </a:ext>
            </a:extLst>
          </p:cNvPr>
          <p:cNvSpPr txBox="1"/>
          <p:nvPr/>
        </p:nvSpPr>
        <p:spPr>
          <a:xfrm>
            <a:off x="4943014" y="2484085"/>
            <a:ext cx="2196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Futura Std Book"/>
              </a:rPr>
              <a:t>Giving a numerical value to the staff for generic skills required in an IT environment can create values for which the GRA algorithm can base its ticket assignment decisions.</a:t>
            </a:r>
            <a:endParaRPr lang="en-CA" dirty="0">
              <a:solidFill>
                <a:schemeClr val="tx1">
                  <a:lumMod val="65000"/>
                  <a:lumOff val="35000"/>
                </a:schemeClr>
              </a:solidFill>
              <a:latin typeface="Futura Std Boo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46FA1A-029D-7122-C91F-1E5FB0A32370}"/>
              </a:ext>
            </a:extLst>
          </p:cNvPr>
          <p:cNvSpPr txBox="1"/>
          <p:nvPr/>
        </p:nvSpPr>
        <p:spPr>
          <a:xfrm>
            <a:off x="8384166" y="2484085"/>
            <a:ext cx="2196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Futura Std Book"/>
              </a:rPr>
              <a:t>Using the skillset values, an IT staff’s fitness to a certain ticket or task can be derived. This fitness can include numerous skills, as a ticket usually requires prowess in numerous fields.</a:t>
            </a:r>
            <a:endParaRPr lang="en-CA" dirty="0">
              <a:solidFill>
                <a:schemeClr val="bg1"/>
              </a:solidFill>
              <a:latin typeface="Futura Std Book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6F741-0555-FCCF-EC23-0051C9C437BE}"/>
              </a:ext>
            </a:extLst>
          </p:cNvPr>
          <p:cNvSpPr txBox="1">
            <a:spLocks/>
          </p:cNvSpPr>
          <p:nvPr/>
        </p:nvSpPr>
        <p:spPr>
          <a:xfrm>
            <a:off x="209465" y="-11663"/>
            <a:ext cx="7336353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b="1" dirty="0">
                <a:latin typeface="Futura Std Book"/>
                <a:cs typeface="Aharoni" panose="02010803020104030203" pitchFamily="2" charset="-79"/>
              </a:rPr>
              <a:t>Proposed Solution (cont’d)</a:t>
            </a:r>
            <a:endParaRPr lang="en-CA" sz="43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579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C4013-598B-C9DA-8266-FD4B895E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AFC5E20-47B8-988F-094C-99DB0B2695B6}"/>
              </a:ext>
            </a:extLst>
          </p:cNvPr>
          <p:cNvSpPr txBox="1">
            <a:spLocks/>
          </p:cNvSpPr>
          <p:nvPr/>
        </p:nvSpPr>
        <p:spPr>
          <a:xfrm>
            <a:off x="359366" y="1537961"/>
            <a:ext cx="11368808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Futura Std Book"/>
              </a:rPr>
              <a:t>The solution aims to maximize the value returned by the following equation:</a:t>
            </a:r>
            <a:endParaRPr lang="en-CA" dirty="0">
              <a:latin typeface="Futura Std Book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8FA9905-2CB2-0E39-40EB-A0AD1638E8F8}"/>
              </a:ext>
            </a:extLst>
          </p:cNvPr>
          <p:cNvGrpSpPr/>
          <p:nvPr/>
        </p:nvGrpSpPr>
        <p:grpSpPr>
          <a:xfrm>
            <a:off x="733573" y="2330197"/>
            <a:ext cx="10319804" cy="3761846"/>
            <a:chOff x="308525" y="3429000"/>
            <a:chExt cx="8309929" cy="2896157"/>
          </a:xfrm>
        </p:grpSpPr>
        <p:pic>
          <p:nvPicPr>
            <p:cNvPr id="9" name="Picture 8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CED3BCDE-850B-DC51-C1EB-B42EBB2A3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525" y="3429000"/>
              <a:ext cx="8177384" cy="289615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FE08E87-6FF0-8F30-8066-CB5A27B86DA3}"/>
                </a:ext>
              </a:extLst>
            </p:cNvPr>
            <p:cNvSpPr txBox="1"/>
            <p:nvPr/>
          </p:nvSpPr>
          <p:spPr>
            <a:xfrm>
              <a:off x="7715930" y="4474378"/>
              <a:ext cx="902524" cy="1646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(1)</a:t>
              </a:r>
            </a:p>
            <a:p>
              <a:endPara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  <a:p>
              <a:r>
                <a:rPr lang="en-US" sz="19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(2)</a:t>
              </a:r>
            </a:p>
            <a:p>
              <a:endPara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  <a:p>
              <a:r>
                <a:rPr lang="en-US" sz="19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(3)</a:t>
              </a:r>
            </a:p>
            <a:p>
              <a:endParaRPr lang="en-US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  <a:p>
              <a:r>
                <a:rPr lang="en-US" sz="19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(4)</a:t>
              </a:r>
              <a:endParaRPr lang="en-CA" sz="19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F761D86-5155-114A-F3BD-D8614C548500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1C534A-2717-B118-1A23-B9310EF682D5}"/>
              </a:ext>
            </a:extLst>
          </p:cNvPr>
          <p:cNvSpPr/>
          <p:nvPr/>
        </p:nvSpPr>
        <p:spPr>
          <a:xfrm>
            <a:off x="8662737" y="2610853"/>
            <a:ext cx="757989" cy="5701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E9D490-73B6-07D2-0DA0-0FE720696E69}"/>
              </a:ext>
            </a:extLst>
          </p:cNvPr>
          <p:cNvSpPr/>
          <p:nvPr/>
        </p:nvSpPr>
        <p:spPr>
          <a:xfrm>
            <a:off x="4146884" y="2555325"/>
            <a:ext cx="757989" cy="57011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3817D6-B226-B460-5CDA-503CBA6CBF2D}"/>
              </a:ext>
            </a:extLst>
          </p:cNvPr>
          <p:cNvSpPr txBox="1">
            <a:spLocks/>
          </p:cNvSpPr>
          <p:nvPr/>
        </p:nvSpPr>
        <p:spPr>
          <a:xfrm>
            <a:off x="209465" y="-11663"/>
            <a:ext cx="7336353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b="1" dirty="0">
                <a:latin typeface="Futura Std Book"/>
                <a:cs typeface="Aharoni" panose="02010803020104030203" pitchFamily="2" charset="-79"/>
              </a:rPr>
              <a:t>Proposed Solution (cont’d)</a:t>
            </a:r>
            <a:endParaRPr lang="en-CA" sz="43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1770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22E70-3FCF-2B59-D43D-31B90EBD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223ABD-C743-35DE-4594-A7CD82718194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D5D2652-09FB-6B06-9CC3-FEC3E8BEF23E}"/>
              </a:ext>
            </a:extLst>
          </p:cNvPr>
          <p:cNvSpPr txBox="1">
            <a:spLocks/>
          </p:cNvSpPr>
          <p:nvPr/>
        </p:nvSpPr>
        <p:spPr>
          <a:xfrm>
            <a:off x="355834" y="1480603"/>
            <a:ext cx="11480332" cy="256836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Defining roles are crucial to modeling any system using Role Based Collaboration. In this system, the roles are the tickets. Defining tickets is a two-step process:</a:t>
            </a:r>
          </a:p>
          <a:p>
            <a:endParaRPr lang="en-US" dirty="0">
              <a:latin typeface="Futura Std Book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Create a category-subcategory mapping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dirty="0">
              <a:latin typeface="Futura Std Book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Assign required skills to the mapping </a:t>
            </a:r>
            <a:endParaRPr lang="en-CA" dirty="0">
              <a:latin typeface="Futura Std Book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662F06B-0EF7-0630-3CBE-E6223F36AAE2}"/>
              </a:ext>
            </a:extLst>
          </p:cNvPr>
          <p:cNvSpPr txBox="1">
            <a:spLocks/>
          </p:cNvSpPr>
          <p:nvPr/>
        </p:nvSpPr>
        <p:spPr>
          <a:xfrm>
            <a:off x="-480291" y="0"/>
            <a:ext cx="11458427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Role Negotiation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E4D14D-3704-A2C2-B4EF-B400E12BA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341" y="4263241"/>
            <a:ext cx="5077023" cy="2424386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</p:spTree>
    <p:extLst>
      <p:ext uri="{BB962C8B-B14F-4D97-AF65-F5344CB8AC3E}">
        <p14:creationId xmlns:p14="http://schemas.microsoft.com/office/powerpoint/2010/main" val="399894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DA0F2-DCD9-C4B6-39D7-3936568CB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D77D6C-487D-6FBA-0160-4AB881155CE0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67D316C-B753-AB00-13AD-A5748659C68D}"/>
              </a:ext>
            </a:extLst>
          </p:cNvPr>
          <p:cNvSpPr txBox="1">
            <a:spLocks/>
          </p:cNvSpPr>
          <p:nvPr/>
        </p:nvSpPr>
        <p:spPr>
          <a:xfrm>
            <a:off x="739377" y="3132117"/>
            <a:ext cx="4747023" cy="12346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For each category-subcategory mapping, the administration must define the role (ticket)</a:t>
            </a:r>
            <a:endParaRPr lang="en-CA" dirty="0">
              <a:latin typeface="Futura Std Book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2D03F06-54B9-2625-B575-45752770DDA2}"/>
              </a:ext>
            </a:extLst>
          </p:cNvPr>
          <p:cNvSpPr txBox="1">
            <a:spLocks/>
          </p:cNvSpPr>
          <p:nvPr/>
        </p:nvSpPr>
        <p:spPr>
          <a:xfrm>
            <a:off x="-119270" y="0"/>
            <a:ext cx="12740962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Role Negotiation (cont’d)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1D45C-7A95-01C6-AA55-E1C37FE80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1957"/>
            <a:ext cx="5195418" cy="4488688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EE050B7-9EA2-5DCA-E0AC-76C93F3AF360}"/>
              </a:ext>
            </a:extLst>
          </p:cNvPr>
          <p:cNvSpPr/>
          <p:nvPr/>
        </p:nvSpPr>
        <p:spPr>
          <a:xfrm>
            <a:off x="7243903" y="5312702"/>
            <a:ext cx="2899611" cy="97794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92650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D3B9A-8B7A-2D26-267C-D961904C1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44AF1F-9E86-F8C0-27D3-B7E6472B3DC4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1D7DDE3-9583-1F82-26FB-7DF0C403B4AD}"/>
              </a:ext>
            </a:extLst>
          </p:cNvPr>
          <p:cNvSpPr txBox="1">
            <a:spLocks/>
          </p:cNvSpPr>
          <p:nvPr/>
        </p:nvSpPr>
        <p:spPr>
          <a:xfrm>
            <a:off x="733572" y="234074"/>
            <a:ext cx="8124573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4300" dirty="0">
              <a:solidFill>
                <a:schemeClr val="accent1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50AA83E-AD40-4EEF-40ED-AC10362485F8}"/>
              </a:ext>
            </a:extLst>
          </p:cNvPr>
          <p:cNvSpPr txBox="1">
            <a:spLocks/>
          </p:cNvSpPr>
          <p:nvPr/>
        </p:nvSpPr>
        <p:spPr>
          <a:xfrm>
            <a:off x="-991456" y="46173"/>
            <a:ext cx="12740962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Agent Evaluation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897EFB4-E8D7-DB0C-0484-4D11E661CF4D}"/>
              </a:ext>
            </a:extLst>
          </p:cNvPr>
          <p:cNvSpPr txBox="1">
            <a:spLocks/>
          </p:cNvSpPr>
          <p:nvPr/>
        </p:nvSpPr>
        <p:spPr>
          <a:xfrm>
            <a:off x="442494" y="1591347"/>
            <a:ext cx="7537724" cy="12346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Agent Evaluation is a necessary step to properly model the system. Evaluating agents’ skillsets enables the calculation of an agent’s fitness to a ticket. </a:t>
            </a:r>
            <a:endParaRPr lang="en-CA" dirty="0">
              <a:latin typeface="Futura Std Boo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45D42-FE31-DB62-EA46-12A946725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59" y="3057123"/>
            <a:ext cx="4197980" cy="3475081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176E93-587A-0DBA-2E8F-5AD00530A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740" y="1556410"/>
            <a:ext cx="3415766" cy="5096964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</p:spTree>
    <p:extLst>
      <p:ext uri="{BB962C8B-B14F-4D97-AF65-F5344CB8AC3E}">
        <p14:creationId xmlns:p14="http://schemas.microsoft.com/office/powerpoint/2010/main" val="2073234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95FA9C-0ADC-56B2-6764-49EA81F8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58DBF1-8B8C-92DB-9F3F-1DBD037C8A35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79DA0B8-FAAD-27C6-C4D0-A4B179AEBDD6}"/>
              </a:ext>
            </a:extLst>
          </p:cNvPr>
          <p:cNvSpPr txBox="1">
            <a:spLocks/>
          </p:cNvSpPr>
          <p:nvPr/>
        </p:nvSpPr>
        <p:spPr>
          <a:xfrm>
            <a:off x="415635" y="1671817"/>
            <a:ext cx="11305309" cy="47408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Now that roles have been defined and agents have been evaluated, Role Assignment can occur.</a:t>
            </a:r>
          </a:p>
          <a:p>
            <a:pPr marL="0" indent="0" algn="ctr">
              <a:buNone/>
            </a:pPr>
            <a:endParaRPr lang="en-US" dirty="0">
              <a:latin typeface="Futura Std Book"/>
            </a:endParaRPr>
          </a:p>
          <a:p>
            <a:pPr marL="0" indent="0" algn="ctr">
              <a:buNone/>
            </a:pPr>
            <a:r>
              <a:rPr lang="en-CA" dirty="0">
                <a:latin typeface="Futura Std Book"/>
              </a:rPr>
              <a:t>It will be done through Group Role Assignment with Agents’ Busyness Degree as defined in the proposed solution. </a:t>
            </a:r>
            <a:r>
              <a:rPr lang="en-US" dirty="0">
                <a:latin typeface="Futura Std Book"/>
              </a:rPr>
              <a:t>There are two primary use cases for this assignment process:</a:t>
            </a:r>
          </a:p>
          <a:p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Batch Ticket Assignment – Assigning multiple tickets simultaneously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Manager-Initiated Assignment – A manager creating and assigning a ticket</a:t>
            </a:r>
            <a:endParaRPr lang="en-CA" dirty="0">
              <a:latin typeface="Futura Std Book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194A12-0297-C01F-7C06-D689C20AFCCF}"/>
              </a:ext>
            </a:extLst>
          </p:cNvPr>
          <p:cNvSpPr txBox="1">
            <a:spLocks/>
          </p:cNvSpPr>
          <p:nvPr/>
        </p:nvSpPr>
        <p:spPr>
          <a:xfrm>
            <a:off x="-1020018" y="-1"/>
            <a:ext cx="12740962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Role Assignment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8865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94405-081E-2209-6038-A0F8D843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E936BC4-586E-D033-5B68-72F03236B6E9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839B9F1-6C83-7B26-4D59-C1B55EE24A4D}"/>
              </a:ext>
            </a:extLst>
          </p:cNvPr>
          <p:cNvSpPr txBox="1">
            <a:spLocks/>
          </p:cNvSpPr>
          <p:nvPr/>
        </p:nvSpPr>
        <p:spPr>
          <a:xfrm>
            <a:off x="1524000" y="167181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Company X has 7 members of their IT staff. They receive an influx of tickets that must be assigned.</a:t>
            </a:r>
            <a:endParaRPr lang="en-CA" dirty="0">
              <a:latin typeface="Futura Std Book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1DB912-BADB-56AC-44A2-8E8135DB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345" y="2960517"/>
            <a:ext cx="9781310" cy="3265297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55522EC-BAAF-BE59-18AA-FE78DA1B6140}"/>
              </a:ext>
            </a:extLst>
          </p:cNvPr>
          <p:cNvSpPr txBox="1">
            <a:spLocks/>
          </p:cNvSpPr>
          <p:nvPr/>
        </p:nvSpPr>
        <p:spPr>
          <a:xfrm>
            <a:off x="-145774" y="0"/>
            <a:ext cx="12740962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Role Assignment (cont’d)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5652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4A444-DD42-B4A7-A010-F06382B7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7C64A7-F45A-7FA5-1E25-072A76CCB5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333" r="1309"/>
          <a:stretch/>
        </p:blipFill>
        <p:spPr>
          <a:xfrm>
            <a:off x="1524001" y="2849972"/>
            <a:ext cx="9143999" cy="3254821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0DC92DD-1CB4-2ECC-E1DA-AB3A1F5BDC44}"/>
              </a:ext>
            </a:extLst>
          </p:cNvPr>
          <p:cNvSpPr txBox="1">
            <a:spLocks/>
          </p:cNvSpPr>
          <p:nvPr/>
        </p:nvSpPr>
        <p:spPr>
          <a:xfrm>
            <a:off x="733573" y="234074"/>
            <a:ext cx="4598448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4300" dirty="0">
              <a:solidFill>
                <a:schemeClr val="accent1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45AFBE-0E11-4C2C-FE2C-D30EDCCF561E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A1095FB-0A14-E063-92AD-A101E9E69BD5}"/>
              </a:ext>
            </a:extLst>
          </p:cNvPr>
          <p:cNvSpPr txBox="1">
            <a:spLocks/>
          </p:cNvSpPr>
          <p:nvPr/>
        </p:nvSpPr>
        <p:spPr>
          <a:xfrm>
            <a:off x="1524000" y="1502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utura Std Book"/>
              </a:rPr>
              <a:t>The CTO of Company X wants to rollout a new project, installing new security measures on the company computers and educating the staff of Company X on how to use it. </a:t>
            </a:r>
            <a:endParaRPr lang="en-CA" dirty="0">
              <a:latin typeface="Futura Std Book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1755BC-F158-2156-9345-A857DC658F98}"/>
              </a:ext>
            </a:extLst>
          </p:cNvPr>
          <p:cNvSpPr txBox="1">
            <a:spLocks/>
          </p:cNvSpPr>
          <p:nvPr/>
        </p:nvSpPr>
        <p:spPr>
          <a:xfrm>
            <a:off x="-158138" y="3401"/>
            <a:ext cx="12740962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Role Assignment (cont’d)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27764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CC13A-D8DB-C5A9-B957-C7112A15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72AD7AA-239E-F398-34E3-A9BF397EA04D}"/>
              </a:ext>
            </a:extLst>
          </p:cNvPr>
          <p:cNvSpPr txBox="1">
            <a:spLocks/>
          </p:cNvSpPr>
          <p:nvPr/>
        </p:nvSpPr>
        <p:spPr>
          <a:xfrm>
            <a:off x="733573" y="234074"/>
            <a:ext cx="4598448" cy="8893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sz="4300" dirty="0">
              <a:solidFill>
                <a:schemeClr val="accent1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6A64E9-1F62-23E8-581D-8635098DD017}"/>
              </a:ext>
            </a:extLst>
          </p:cNvPr>
          <p:cNvSpPr txBox="1">
            <a:spLocks/>
          </p:cNvSpPr>
          <p:nvPr/>
        </p:nvSpPr>
        <p:spPr>
          <a:xfrm>
            <a:off x="478972" y="1467380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Futura Std Book"/>
              </a:rPr>
              <a:t>The Role Playing </a:t>
            </a:r>
            <a:r>
              <a:rPr lang="en-US" dirty="0">
                <a:latin typeface="Futura Std Book"/>
              </a:rPr>
              <a:t>step involves resolving the issue described in the ticket. However, in a Role-Based Collaboration system, it is pivotal that agents clearly understand the specific roles they need to fulfill to ensure efficient and effective problem resolution.</a:t>
            </a:r>
            <a:endParaRPr lang="en-CA" dirty="0">
              <a:latin typeface="Futura Std Book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2AE6EF-44EB-F733-5B9F-9F67A82D8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344" y="2984718"/>
            <a:ext cx="3851319" cy="3662352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3CFAE3-DAA2-ACC9-19E0-2989C5B67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73" y="2999381"/>
            <a:ext cx="3851319" cy="3633026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9430D46-A69C-45FA-26C0-D2BEFF5DCB9F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4155BE-4B02-10F1-74AE-C13019DA37FB}"/>
              </a:ext>
            </a:extLst>
          </p:cNvPr>
          <p:cNvSpPr txBox="1"/>
          <p:nvPr/>
        </p:nvSpPr>
        <p:spPr>
          <a:xfrm>
            <a:off x="384313" y="234074"/>
            <a:ext cx="92102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Modeling the System – Role Playing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87913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3AAE3-0244-E35D-2FBA-5F1E939BF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2E66BB-7716-BCE6-2358-5E07BE7B7FF0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9524272-493C-88C2-3E5F-1DF71AB38C98}"/>
              </a:ext>
            </a:extLst>
          </p:cNvPr>
          <p:cNvSpPr txBox="1">
            <a:spLocks/>
          </p:cNvSpPr>
          <p:nvPr/>
        </p:nvSpPr>
        <p:spPr>
          <a:xfrm>
            <a:off x="422865" y="101622"/>
            <a:ext cx="4798245" cy="889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Results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24EE77-B006-C996-2454-08A7657906CB}"/>
              </a:ext>
            </a:extLst>
          </p:cNvPr>
          <p:cNvSpPr txBox="1">
            <a:spLocks/>
          </p:cNvSpPr>
          <p:nvPr/>
        </p:nvSpPr>
        <p:spPr>
          <a:xfrm>
            <a:off x="623455" y="2014821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utura Std Book"/>
              </a:rPr>
              <a:t>To determine the effectiveness of the GRAABD algorithm, we can evaluate a group score. It is defined as follows:</a:t>
            </a:r>
            <a:endParaRPr lang="en-CA" dirty="0">
              <a:latin typeface="Futura Std Book"/>
            </a:endParaRPr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888A841-B622-5A7F-5750-81ECCC1E3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717" y="2499699"/>
            <a:ext cx="8508565" cy="334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529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1FDB2-5621-122D-C07C-9D6F40A8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CE6B4A-D976-F865-B16A-B8AA10633C59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6F374FB-4EBF-7A11-34E2-75FA4160E32C}"/>
              </a:ext>
            </a:extLst>
          </p:cNvPr>
          <p:cNvSpPr txBox="1">
            <a:spLocks/>
          </p:cNvSpPr>
          <p:nvPr/>
        </p:nvSpPr>
        <p:spPr>
          <a:xfrm>
            <a:off x="445067" y="108243"/>
            <a:ext cx="4798245" cy="889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Results (cont’d)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13641F8-803C-8242-84EA-092850114426}"/>
              </a:ext>
            </a:extLst>
          </p:cNvPr>
          <p:cNvSpPr txBox="1">
            <a:spLocks/>
          </p:cNvSpPr>
          <p:nvPr/>
        </p:nvSpPr>
        <p:spPr>
          <a:xfrm>
            <a:off x="623454" y="1671818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Futura Std Book"/>
              </a:rPr>
              <a:t>With the previous definition, we can evaluate the algorithm</a:t>
            </a:r>
            <a:r>
              <a:rPr lang="en-US" dirty="0">
                <a:latin typeface="Avenir Next LT Pro" panose="020B0504020202020204" pitchFamily="34" charset="0"/>
              </a:rPr>
              <a:t>.</a:t>
            </a:r>
            <a:endParaRPr lang="en-CA" dirty="0">
              <a:latin typeface="Avenir Next LT Pro" panose="020B05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84DAE-81AF-9AEE-456F-83704F5AD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486" y="2499699"/>
            <a:ext cx="8201025" cy="3609975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</p:spTree>
    <p:extLst>
      <p:ext uri="{BB962C8B-B14F-4D97-AF65-F5344CB8AC3E}">
        <p14:creationId xmlns:p14="http://schemas.microsoft.com/office/powerpoint/2010/main" val="2006464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5691C-FAD8-8DF6-7563-091ED9ED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324644-AF56-20D3-97FA-909BCD186B2B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D6CA9F4-1F50-13F4-1373-E531A7660D07}"/>
              </a:ext>
            </a:extLst>
          </p:cNvPr>
          <p:cNvSpPr txBox="1">
            <a:spLocks/>
          </p:cNvSpPr>
          <p:nvPr/>
        </p:nvSpPr>
        <p:spPr>
          <a:xfrm>
            <a:off x="405311" y="104461"/>
            <a:ext cx="4798245" cy="889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Results (cont’d)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2FD7CE1-32D7-A7CE-407E-775290143627}"/>
              </a:ext>
            </a:extLst>
          </p:cNvPr>
          <p:cNvSpPr txBox="1">
            <a:spLocks/>
          </p:cNvSpPr>
          <p:nvPr/>
        </p:nvSpPr>
        <p:spPr>
          <a:xfrm>
            <a:off x="623454" y="1671818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>
              <a:latin typeface="Avenir Next LT Pro" panose="020B05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5E337-A62A-EBC5-F131-4D31B5B3C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213" y="1488237"/>
            <a:ext cx="8226699" cy="5261520"/>
          </a:xfrm>
          <a:prstGeom prst="rect">
            <a:avLst/>
          </a:prstGeom>
          <a:ln w="57150">
            <a:solidFill>
              <a:srgbClr val="00609A"/>
            </a:solidFill>
          </a:ln>
        </p:spPr>
      </p:pic>
    </p:spTree>
    <p:extLst>
      <p:ext uri="{BB962C8B-B14F-4D97-AF65-F5344CB8AC3E}">
        <p14:creationId xmlns:p14="http://schemas.microsoft.com/office/powerpoint/2010/main" val="2741572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1A595-038D-BF4B-9BA7-5746D0BE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483065-7E53-E046-0844-A7047D0CDBA8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6A591FB-5F8A-4BE9-576B-28F59F292137}"/>
              </a:ext>
            </a:extLst>
          </p:cNvPr>
          <p:cNvSpPr txBox="1">
            <a:spLocks/>
          </p:cNvSpPr>
          <p:nvPr/>
        </p:nvSpPr>
        <p:spPr>
          <a:xfrm>
            <a:off x="142505" y="180671"/>
            <a:ext cx="4798245" cy="889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Futura Std Book"/>
                <a:cs typeface="Aharoni" panose="02010803020104030203" pitchFamily="2" charset="-79"/>
              </a:rPr>
              <a:t>Conclusion</a:t>
            </a:r>
            <a:endParaRPr lang="en-CA" sz="48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41C79D4-CD54-110F-2F29-D790A04966C6}"/>
              </a:ext>
            </a:extLst>
          </p:cNvPr>
          <p:cNvSpPr txBox="1">
            <a:spLocks/>
          </p:cNvSpPr>
          <p:nvPr/>
        </p:nvSpPr>
        <p:spPr>
          <a:xfrm>
            <a:off x="623454" y="1671818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>
              <a:latin typeface="Avenir Next LT Pro" panose="020B05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6DC41F-780B-6392-7EFF-367ED6791EA0}"/>
              </a:ext>
            </a:extLst>
          </p:cNvPr>
          <p:cNvSpPr txBox="1">
            <a:spLocks/>
          </p:cNvSpPr>
          <p:nvPr/>
        </p:nvSpPr>
        <p:spPr>
          <a:xfrm>
            <a:off x="442493" y="1691459"/>
            <a:ext cx="11290327" cy="4863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Futura Std Book"/>
              </a:rPr>
              <a:t>In sum, modelling an IT department using the Role Based Collaboration framework and administering tickets using Group Role Assignment with Agents’ Busyness Degree, the following occurs:</a:t>
            </a:r>
          </a:p>
          <a:p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Data-Driven Decision Making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Optimal Ticket Resolution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>
              <a:latin typeface="Futura Std Book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>
                <a:latin typeface="Futura Std Book"/>
              </a:rPr>
              <a:t>Workload balance</a:t>
            </a:r>
            <a:endParaRPr lang="en-CA" dirty="0">
              <a:latin typeface="Futura Std Book"/>
            </a:endParaRPr>
          </a:p>
        </p:txBody>
      </p:sp>
    </p:spTree>
    <p:extLst>
      <p:ext uri="{BB962C8B-B14F-4D97-AF65-F5344CB8AC3E}">
        <p14:creationId xmlns:p14="http://schemas.microsoft.com/office/powerpoint/2010/main" val="4284010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E521F-4C98-1184-4B76-4D83419A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3B6B57-5639-8E38-C918-C61CB638CDD9}"/>
              </a:ext>
            </a:extLst>
          </p:cNvPr>
          <p:cNvSpPr/>
          <p:nvPr/>
        </p:nvSpPr>
        <p:spPr>
          <a:xfrm>
            <a:off x="0" y="-118680"/>
            <a:ext cx="12192000" cy="1126671"/>
          </a:xfrm>
          <a:prstGeom prst="rect">
            <a:avLst/>
          </a:prstGeom>
          <a:solidFill>
            <a:srgbClr val="00609A"/>
          </a:solidFill>
          <a:ln>
            <a:noFill/>
          </a:ln>
          <a:effectLst>
            <a:glow rad="520700">
              <a:srgbClr val="00609A">
                <a:alpha val="60000"/>
              </a:srgbClr>
            </a:glow>
            <a:softEdge rad="584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89254F6-A597-4048-6E48-58623D29DB43}"/>
              </a:ext>
            </a:extLst>
          </p:cNvPr>
          <p:cNvSpPr txBox="1">
            <a:spLocks/>
          </p:cNvSpPr>
          <p:nvPr/>
        </p:nvSpPr>
        <p:spPr>
          <a:xfrm>
            <a:off x="341288" y="118679"/>
            <a:ext cx="4798245" cy="8893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Futura Std Book"/>
                <a:cs typeface="Aharoni" panose="02010803020104030203" pitchFamily="2" charset="-79"/>
              </a:rPr>
              <a:t>Conclusion</a:t>
            </a:r>
            <a:endParaRPr lang="en-CA" sz="4000" b="1" dirty="0">
              <a:latin typeface="Futura Std Book"/>
              <a:cs typeface="Aharoni" panose="02010803020104030203" pitchFamily="2" charset="-79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ADB2B1C-B6F4-1652-F48A-AFE2A8992B48}"/>
              </a:ext>
            </a:extLst>
          </p:cNvPr>
          <p:cNvSpPr txBox="1">
            <a:spLocks/>
          </p:cNvSpPr>
          <p:nvPr/>
        </p:nvSpPr>
        <p:spPr>
          <a:xfrm>
            <a:off x="623454" y="1671818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dirty="0">
              <a:latin typeface="Avenir Next LT Pro" panose="020B05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F4D73EB-D62D-C25F-5084-AD7D7A393891}"/>
              </a:ext>
            </a:extLst>
          </p:cNvPr>
          <p:cNvSpPr txBox="1">
            <a:spLocks/>
          </p:cNvSpPr>
          <p:nvPr/>
        </p:nvSpPr>
        <p:spPr>
          <a:xfrm>
            <a:off x="623454" y="3163526"/>
            <a:ext cx="1094509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b="1" dirty="0">
                <a:latin typeface="Futura Std Book"/>
              </a:rPr>
              <a:t>Questions?</a:t>
            </a:r>
            <a:endParaRPr lang="en-CA" sz="9600" b="1" dirty="0">
              <a:latin typeface="Futura Std Book"/>
            </a:endParaRPr>
          </a:p>
        </p:txBody>
      </p:sp>
    </p:spTree>
    <p:extLst>
      <p:ext uri="{BB962C8B-B14F-4D97-AF65-F5344CB8AC3E}">
        <p14:creationId xmlns:p14="http://schemas.microsoft.com/office/powerpoint/2010/main" val="3467917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014724-d7f8-477c-9f79-2086986608c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C8EF291175654B993482E8531B5E78" ma:contentTypeVersion="13" ma:contentTypeDescription="Create a new document." ma:contentTypeScope="" ma:versionID="8f56c7a503db7375f0f3946b8b016731">
  <xsd:schema xmlns:xsd="http://www.w3.org/2001/XMLSchema" xmlns:xs="http://www.w3.org/2001/XMLSchema" xmlns:p="http://schemas.microsoft.com/office/2006/metadata/properties" xmlns:ns3="75014724-d7f8-477c-9f79-2086986608cb" xmlns:ns4="9c6d7ed8-6c3e-4b3e-89bc-eb60acc32633" targetNamespace="http://schemas.microsoft.com/office/2006/metadata/properties" ma:root="true" ma:fieldsID="ad74bf9292e34b872ce0631bd616a815" ns3:_="" ns4:_="">
    <xsd:import namespace="75014724-d7f8-477c-9f79-2086986608cb"/>
    <xsd:import namespace="9c6d7ed8-6c3e-4b3e-89bc-eb60acc3263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014724-d7f8-477c-9f79-2086986608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d7ed8-6c3e-4b3e-89bc-eb60acc3263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BEBCFE-9DFF-4113-9E5A-13A9A2F1AF4B}">
  <ds:schemaRefs>
    <ds:schemaRef ds:uri="http://purl.org/dc/dcmitype/"/>
    <ds:schemaRef ds:uri="http://schemas.microsoft.com/office/2006/documentManagement/types"/>
    <ds:schemaRef ds:uri="9c6d7ed8-6c3e-4b3e-89bc-eb60acc32633"/>
    <ds:schemaRef ds:uri="75014724-d7f8-477c-9f79-2086986608cb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978D83E-8C3F-44FA-A05D-9D2234960B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014724-d7f8-477c-9f79-2086986608cb"/>
    <ds:schemaRef ds:uri="9c6d7ed8-6c3e-4b3e-89bc-eb60acc326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5FFE6F-DF74-4C39-B5D0-8C8DAABE7B6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13086d8-996b-4065-8b63-786a925860b5}" enabled="0" method="" siteId="{b13086d8-996b-4065-8b63-786a925860b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7501</TotalTime>
  <Words>907</Words>
  <Application>Microsoft Office PowerPoint</Application>
  <PresentationFormat>Widescreen</PresentationFormat>
  <Paragraphs>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Aharoni</vt:lpstr>
      <vt:lpstr>Arial</vt:lpstr>
      <vt:lpstr>Avenir Next LT Pro</vt:lpstr>
      <vt:lpstr>Calibri</vt:lpstr>
      <vt:lpstr>Calibri Light</vt:lpstr>
      <vt:lpstr>Cambria Math</vt:lpstr>
      <vt:lpstr>Futura Std Book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Evan Wells</cp:lastModifiedBy>
  <cp:revision>10</cp:revision>
  <dcterms:created xsi:type="dcterms:W3CDTF">2019-09-20T18:16:21Z</dcterms:created>
  <dcterms:modified xsi:type="dcterms:W3CDTF">2025-04-29T00:26:35Z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0x010100C6C8EF291175654B993482E8531B5E78</vt:lpwstr>
  </property>
</Properties>
</file>